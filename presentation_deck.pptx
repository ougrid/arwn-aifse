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66" r:id="rId13"/>
    <p:sldId id="271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38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44062-EEFA-4728-909F-3F88DFC931BD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48C20-210E-4ED9-820B-EFDF076EE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00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48C20-210E-4ED9-820B-EFDF076EEA5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02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CS Demand Forecasting</a:t>
            </a:r>
            <a:br/>
            <a:r>
              <a:t>&amp; Shift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AI-Powered Staffing Optimization for April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49039"/>
            <a:ext cx="2743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Technical Assessment  |  AI &amp; Full-Stack Engineer</a:t>
            </a:r>
            <a:endParaRPr lang="en-US" dirty="0"/>
          </a:p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(Presented by Ougrid D. – Candidate)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Presented to ARWN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What we're solving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50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10 Senior + 40 Junior</a:t>
            </a:r>
            <a:br/>
            <a:r>
              <a:t>8 English-capable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 Shifts/Day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3774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Morning · Afternoon</a:t>
            </a:r>
            <a:br/>
            <a:r>
              <a:t>Evening · Night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April 2026</a:t>
            </a:r>
            <a:br/>
            <a:r>
              <a:t>6 leave days each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645920"/>
            <a:ext cx="2560320" cy="2011680"/>
          </a:xfrm>
          <a:prstGeom prst="roundRect">
            <a:avLst>
              <a:gd name="adj" fmla="val 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0" y="18288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 KPI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3774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CSAT ≥ 4.0</a:t>
            </a:r>
            <a:br/>
            <a:r>
              <a:t>Wait ≤ 60 seconds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Business 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6 hard constraints: leave allowance, pre-selected leave, night rest, minimum staffing, daily leave cap, valid assignments</a:t>
            </a:r>
          </a:p>
          <a:p>
            <a:pPr>
              <a:spcAft>
                <a:spcPts val="7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2 soft objectives: night shift fairness across agents, minimize overstaffing</a:t>
            </a:r>
          </a:p>
          <a:p>
            <a:pPr>
              <a:spcAft>
                <a:spcPts val="7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Goal: Find an optimal schedule respecting ALL constraints while maximizing service quality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FA218A-86E4-0F8B-D1BB-5274A310DE1A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Two-stage pipeline: Predict → Optimize → Validate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2926080"/>
          </a:xfrm>
          <a:prstGeom prst="roundRect">
            <a:avLst>
              <a:gd name="adj" fmla="val 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Predict ticket volume</a:t>
            </a:r>
            <a:br/>
            <a:r>
              <a:t>per shift per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661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3F7"/>
                </a:solidFill>
                <a:latin typeface="Calibri"/>
              </a:defRPr>
            </a:pPr>
            <a:r>
              <a:t>GradientBoosting</a:t>
            </a:r>
            <a:br/>
            <a:r>
              <a:t>Regressor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8EA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645920"/>
            <a:ext cx="2560320" cy="2926080"/>
          </a:xfrm>
          <a:prstGeom prst="roundRect">
            <a:avLst>
              <a:gd name="adj" fmla="val 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1188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STAFFING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651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Determine minimum</a:t>
            </a:r>
            <a:br/>
            <a:r>
              <a:t>Sr/Jr/Eng per shift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35661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03320" y="3611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7D6"/>
                </a:solidFill>
                <a:latin typeface="Calibri"/>
              </a:defRPr>
            </a:pPr>
            <a:r>
              <a:t>Quality Models</a:t>
            </a:r>
            <a:br/>
            <a:r>
              <a:t>+ Grid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8EA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59" y="1645920"/>
            <a:ext cx="2560320" cy="2926080"/>
          </a:xfrm>
          <a:prstGeom prst="roundRect">
            <a:avLst>
              <a:gd name="adj" fmla="val 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39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Stage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39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SCHEDULE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39" y="2651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Assign 50 agents</a:t>
            </a:r>
            <a:br/>
            <a:r>
              <a:t>to shifts × 30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79" y="35661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79" y="3611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3F7"/>
                </a:solidFill>
                <a:latin typeface="Calibri"/>
              </a:defRPr>
            </a:pPr>
            <a:r>
              <a:t>Google OR-Tools</a:t>
            </a:r>
            <a:br/>
            <a:r>
              <a:t>CP-SAT Solver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8E8EA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1645920"/>
            <a:ext cx="2560320" cy="2926080"/>
          </a:xfrm>
          <a:prstGeom prst="roundRect">
            <a:avLst>
              <a:gd name="adj" fmla="val 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72599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Stage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599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599" y="26517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Validate constraints</a:t>
            </a:r>
            <a:br/>
            <a:r>
              <a:t>&amp; project quality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64039" y="3566160"/>
            <a:ext cx="2011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64039" y="3611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7D6"/>
                </a:solidFill>
                <a:latin typeface="Calibri"/>
              </a:defRPr>
            </a:pPr>
            <a:r>
              <a:t>Fairness + CSAT</a:t>
            </a:r>
            <a:br/>
            <a:r>
              <a:t>+ Remediation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E8EA3"/>
                </a:solidFill>
                <a:latin typeface="Calibri"/>
              </a:defRPr>
            </a:pPr>
            <a:r>
              <a:t>Tech Stack:  Python 3.11  ·  scikit-learn  ·  Google OR-Tools  ·  Streamlit  ·  Plotly  ·  pandas  ·  pytest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2CA0E2-84E0-CC39-2280-36AEAD51D9F9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Task A: Demand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Two-stage approach — Volume Prediction → Staffing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1: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rPr dirty="0" err="1"/>
              <a:t>GradientBoostingRegressor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Trained on 6 months of historical shift data (728 records)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Features: </a:t>
            </a:r>
            <a:r>
              <a:rPr dirty="0" err="1"/>
              <a:t>day_of_week</a:t>
            </a:r>
            <a:r>
              <a:rPr dirty="0"/>
              <a:t>, </a:t>
            </a:r>
            <a:r>
              <a:rPr dirty="0" err="1"/>
              <a:t>is_weekend</a:t>
            </a:r>
            <a:r>
              <a:rPr dirty="0"/>
              <a:t>, cyclical month, shift ID, </a:t>
            </a:r>
            <a:r>
              <a:rPr dirty="0" err="1"/>
              <a:t>day_of_month</a:t>
            </a:r>
            <a:endParaRPr dirty="0"/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Time-based validation split (last month held out)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Predicts ticket volume per shift per day for April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0.927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Validation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02336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4160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C3F7"/>
                </a:solidFill>
                <a:latin typeface="Calibri"/>
              </a:defRPr>
            </a:pPr>
            <a:r>
              <a:t>19.7 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663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Validation MAE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46304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2: STAFFING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Quality Models + Grid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CSAT Regression: volume + senior + junior + </a:t>
            </a:r>
            <a:r>
              <a:rPr dirty="0" err="1"/>
              <a:t>english</a:t>
            </a:r>
            <a:r>
              <a:rPr dirty="0"/>
              <a:t> → CSAT score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Wait Time Regression: same features → avg wait seconds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Vectorized grid search: find minimum staff meeting both targets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Historical floors (p10) prevent model extrapolation errors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Feasibility caps for scarce pools (8 English agents, ~6.4 avail/day)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02336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4160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0.818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663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CSAT Model R²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402336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0" y="4160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0.963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663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Wait Model R²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03520"/>
            <a:ext cx="10698480" cy="91440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Why GradientBoosting over LSTM/Prophet?</a:t>
            </a:r>
            <a:br/>
            <a:r>
              <a:t>→ Tabular data with few features (not sequential), small dataset (728 rows), interpretable feature importance, fast training, strong out-of-box performance on structured data. LSTM would need 10-100x more data and offer no interpretability benefit.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9E9F1E-FCF5-9A40-21FC-9E206B809116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Task B: Shift Scheduling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Constraint Programming with Google OR-Tools CP-SAT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3485606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Hard Constraints (must satisfy)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1. Exactly one assignment per agent per day (shift or leave)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2. Each agent gets exactly 6 leave days per month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3. All 3 pre-selected leave dates honored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4. Night shift → mandatory rest day (counts as leave)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5. Minimum staffing per shift: Senior, Junior, English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6. Daily leave cap: max 19 agents on leave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3566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Soft Constraints (optimize)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1. Night shift fairness — minimize variance across agents (w=5)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2. Overstaffing penalty — minimize excess beyond minimums (w=1)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3. Agent preferences — honor shift likes/dislikes (w=1)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74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Model Complexity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84048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Decision variables: 50 agents × 30 days × 5 options = 7,500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Solver: CP-SAT (Constraint Programming – SAT)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Solution time: ~60s → FEASIBLE (119/120 targets met)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66806"/>
            <a:ext cx="10972800" cy="731520"/>
          </a:xfrm>
          <a:prstGeom prst="roundRect">
            <a:avLst>
              <a:gd name="adj" fmla="val 3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512526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rPr dirty="0"/>
              <a:t>Why CP-SAT over heuristics/genetic algorithms?</a:t>
            </a:r>
            <a:br>
              <a:rPr dirty="0"/>
            </a:br>
            <a:r>
              <a:rPr dirty="0"/>
              <a:t>→ Guaranteed constraint satisfaction, provable optimality bounds, declarative modeling (add constraints without rewriting logic), scales well to 7,500 variables, industry-standard for shift scheduling.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1E0E11-5330-E528-E82F-5A6EF875AFF3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Full pipeline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4.27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Avg CSAT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8EA3"/>
                </a:solidFill>
                <a:latin typeface="Calibri"/>
              </a:defRPr>
            </a:pPr>
            <a:r>
              <a:t>Target ≥ 4.0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554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21.6s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Avg 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8EA3"/>
                </a:solidFill>
                <a:latin typeface="Calibri"/>
              </a:defRPr>
            </a:pPr>
            <a:r>
              <a:t>Target ≤ 60s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46304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1554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119/120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Targets 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8EA3"/>
                </a:solidFill>
                <a:latin typeface="Calibri"/>
              </a:defRPr>
            </a:pPr>
            <a:r>
              <a:t>99.2% of shifts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46304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0" y="1554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Hard Errors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8EA3"/>
                </a:solidFill>
                <a:latin typeface="Calibri"/>
              </a:defRPr>
            </a:pPr>
            <a:r>
              <a:t>All satisfied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146304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1554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C3F7"/>
                </a:solidFill>
                <a:latin typeface="Calibri"/>
              </a:defRPr>
            </a:pPr>
            <a:r>
              <a:t>~71s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  <a:latin typeface="Calibri"/>
              </a:defRPr>
            </a:pPr>
            <a:r>
              <a:t>Pipeline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8EA3"/>
                </a:solidFill>
                <a:latin typeface="Calibri"/>
              </a:defRPr>
            </a:pPr>
            <a:r>
              <a:t>End-to-end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Average Daily Staffing by Shift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1600" y="3749039"/>
            <a:ext cx="8595360" cy="320040"/>
          </a:xfrm>
          <a:prstGeom prst="round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71600" y="374903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Shift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Senior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Junior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English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CSAT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49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Wait (s)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4114800"/>
            <a:ext cx="8595360" cy="347472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371600" y="4114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Morning (06-14)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5.0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10.3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4.6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15.3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4.29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1148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18.1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71600" y="4480560"/>
            <a:ext cx="85953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371600" y="44805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Afternoon (14-20)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3.5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8.2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11.7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4.25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4480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23.4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71600" y="4846320"/>
            <a:ext cx="8595360" cy="347472"/>
          </a:xfrm>
          <a:prstGeom prst="round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371600" y="4846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Evening (20-00)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1.7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056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3.8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1.3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5.5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4.30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8463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19.8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71600" y="5212080"/>
            <a:ext cx="8595360" cy="3474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371600" y="52120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Night (00-06)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0.5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8056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7784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0.7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2.5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4.22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680" y="52120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25.2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Design Decisions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Why we chose what we chose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GradientBoosting over LSTM/Prophet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Tabular data (not sequential), only 728 rows, strong OOB performance, interpretable features, &lt;1s training. LSTM needs 10-100x more data for marginal improvement.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6304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46519" y="160020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SCHEDULING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39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CP-SAT over Heuristics/GA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39" y="23774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Guaranteed constraint satisfaction, provable bounds, declarative modeling (easy to add/modify constraints), scales well for 7,500 decision variables. Greedy/GA cannot guarantee feasibility.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80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Two-Stage Forecasting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Volume → Staffing decoupling: isolates forecasting error from optimization. Quality models bridge the gap (CSAT/wait as function of staffing). Historical floors prevent model extrapolation into unrealistic territory.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93192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46519" y="4069080"/>
            <a:ext cx="1645920" cy="320040"/>
          </a:xfrm>
          <a:prstGeom prst="roundRect">
            <a:avLst>
              <a:gd name="adj" fmla="val 1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39" y="4480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Config-Driven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39" y="484632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rPr dirty="0"/>
              <a:t>All business rules in SchedulingConfig dataclass — weights, thresholds, solver params. Zero magic numbers in logic. Managers can tune via dashboard sliders without code changes.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Bonus: Agent Shift Preferences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Soft constraint integration for employee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Each agent has preferences for each shift (1=love → 5=avoid)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Generated based on role (seniors prefer day), language, + individual variation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Integrated as soft objective: solver minimizes assigning agents to disliked shifts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Preference cost = (preference score - 1) × weight in CP-SAT objective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Balanced against fairness and staffing: satisfaction is a goal, not a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51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Satisfaction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011680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0" y="21488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C3F7"/>
                </a:solidFill>
                <a:latin typeface="Calibri"/>
              </a:defRPr>
            </a:pPr>
            <a:r>
              <a:rPr dirty="0"/>
              <a:t>1,083/1,200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51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E8EA3"/>
                </a:solidFill>
                <a:latin typeface="Calibri"/>
              </a:defRPr>
            </a:pPr>
            <a:r>
              <a:t>Preferred Shifts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Production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Reduces burnout by respecting individual scheduling preferences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Improves agent retention — a key metric for CS operations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Tunable weight: managers can trade preference vs. fairness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Dashboard tab shows per-agent satisfaction with heatmap visualization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34691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E8EA3"/>
                </a:solidFill>
                <a:latin typeface="Calibri"/>
              </a:defRPr>
            </a:pPr>
            <a:r>
              <a:t>[Screenshot: Preference Heatmap from Dashboard]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F8BE10C-7A2E-3A0B-4203-33CC48C3A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68" y="4130339"/>
            <a:ext cx="4555103" cy="22505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BA86C-69D4-2391-4F6B-FD9A0C4A1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6E3A0E-5928-CA09-1749-5C0D4A3DB3D9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617593-1FF3-F833-BEB6-9E151C25BB9D}"/>
              </a:ext>
            </a:extLst>
          </p:cNvPr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Bonus: Agent Shift Preferences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8EA162-0E50-9BA1-3AA6-6402FE6C1B5F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CB53008-1459-9E2B-7B6A-926689342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68" y="1082042"/>
            <a:ext cx="10287261" cy="508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799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Bonus: Fairness Metrics &amp; 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Quantitative equity measurement + actionable suggestions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 dirty="0"/>
              <a:t>Fairness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Gini coefficient: 0 = everyone equal, 1 = one person gets all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Night shift Gini: measures equity in unpopular shift distribution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Workload Gini: measures equity in total working days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Shift entropy (Shannon): diversity of shift assignments per agent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Composite score (0-100): 40% night + 30% workload + 30% variety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Letter grade: A (≥90) → F (&lt;60); sparsity-adjusted for realism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Constraint Remediation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Each violation type → specific, actionable suggestion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Grouped by category with affected days listed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e.g. "Move a senior from lower-demand shift" for staffing gaps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e.g. "Swap with agent having complementary pattern" for continuity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Dashboard shows expandable remediation per violation group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rPr dirty="0"/>
              <a:t>Enables managers to make informed manual adjustments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7760"/>
            <a:ext cx="10972800" cy="1097280"/>
          </a:xfrm>
          <a:prstGeom prst="roundRect">
            <a:avLst>
              <a:gd name="adj" fmla="val 3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Why This Matters for Production</a:t>
            </a:r>
            <a:br/>
            <a:r>
              <a:t>→ Fairness metrics give managers visibility into equity issues before agent complaints. Remediation transforms a 'failed constraint' alert into a concrete action plan. Together, they close the feedback loop between automated scheduling and human oversight.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Production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Built for maintainability, not just to pass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554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Modular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 dirty="0"/>
              <a:t>Clean separation: forecasting / scheduling / evaluation. Each module testable independently. New constraints = new function, not rewrite.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6304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39" y="1554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554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Config-Driven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7999" y="187452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 dirty="0"/>
              <a:t>SchedulingConfig dataclass: all business rules, weights, thresholds in one place. Dashboard sliders map directly to config. Zero magic numbers in logic.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Comprehensive 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4290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55+ pytest tests: data integrity (8), forecasting (11), scheduling (13), bonus features (26). Module + integration coverage.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01752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39" y="3108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CI/CD 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7999" y="34290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pyproject.toml with dependencies. Conventional commits (13 total). Tests run in &lt;5s (unit) + ~71s (integration pipeline). Git-clean repo.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7200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Defensive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9834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Historical floors prevent model extrapolation. Feasibility caps for scarce agents. Windows encoding fix for cross-platform. Graceful degradation on solver timeout.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4572000"/>
            <a:ext cx="5394960" cy="128016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39" y="4663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2E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7999" y="4663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7999" y="49834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7-tab Streamlit app: managers adjust parameters, see results, download CSV. Cached pipeline results for responsive interaction. No code changes needed.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7 tabs: Forecast · Schedule · Summary · Constraints · Agents · Fairness · Preferences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572000"/>
          </a:xfrm>
          <a:prstGeom prst="roundRect">
            <a:avLst>
              <a:gd name="adj" fmla="val 2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E8EA3"/>
                </a:solidFill>
                <a:latin typeface="Calibri"/>
              </a:defRPr>
            </a:pPr>
            <a:r>
              <a:t>[Insert Dashboard Screenshots Here]</a:t>
            </a:r>
            <a:br/>
            <a:r>
              <a:t>Run:  streamlit run app.py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Adjustable CSAT/wait targets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Calendar schedule 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39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Download CSV export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9496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Real-time constraint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Preference heatmap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Fairness grade &amp; Gini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0" y="6035040"/>
            <a:ext cx="1463040" cy="365760"/>
          </a:xfrm>
          <a:prstGeom prst="roundRect">
            <a:avLst>
              <a:gd name="adj" fmla="val 10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332720" y="605332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Remediation suggestions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CE7CEFC-229B-7268-AE6B-5D8BA967D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88943"/>
            <a:ext cx="10149840" cy="45642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8C360-7848-07EC-EFE7-70C1F82E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459033-9A16-2322-0E5C-B2B152E1FAEA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F22B0-1870-26B9-EADE-159A49757F51}"/>
              </a:ext>
            </a:extLst>
          </p:cNvPr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21A3F0-4766-796E-9A66-0E22548E8530}"/>
              </a:ext>
            </a:extLst>
          </p:cNvPr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A071F7-214C-D2E6-9AFA-923B60929D01}"/>
              </a:ext>
            </a:extLst>
          </p:cNvPr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E8EA3"/>
                </a:solidFill>
                <a:latin typeface="Calibri"/>
              </a:defRPr>
            </a:pPr>
            <a:r>
              <a:t>[Insert Dashboard Screenshots Here]</a:t>
            </a:r>
            <a:br/>
            <a:r>
              <a:t>Run:  streamlit run app.py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D1F8070-1DF1-0EB6-0A61-7CB42DBF9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1011030"/>
            <a:ext cx="11734800" cy="527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674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Challenges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Real engineering problems encountered and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lang="en-US" dirty="0"/>
              <a:t>ARWN 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Unrealistic Staffing 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6B6B"/>
                </a:solidFill>
                <a:latin typeface="Calibri"/>
              </a:defRPr>
            </a:pPr>
            <a:r>
              <a:t>Problem: Model extrapolated: predicted 4-5 agents when historical data showed 14+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Solution: Added historical staffing floors (10th percentile of quality-meeting shifts) as lower bounds. Prevents model from predicting below observed reality.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6304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39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English Agent Scarcity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39" y="19202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6B6B"/>
                </a:solidFill>
                <a:latin typeface="Calibri"/>
              </a:defRPr>
            </a:pPr>
            <a:r>
              <a:t>Problem: 8 English agents total, optimizer demanded 8/day — impossible with 6 leave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39" y="251460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Solution: Added feasibility caps: available_english = max(1, int(8 × 0.8) - 1) = 5. Prevents infeasible staffing requirements that would block the scheduler.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Preference vs. Fairness 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Problem: Adding preference soft constraint → solver trade-offs night shift equity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Solution: Sparsity-adjusted Gini scoring (only ~80 night slots for 50 agents), tunable weight balance. Accept mathematical limits of sparse distributions.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931920"/>
            <a:ext cx="5394960" cy="2103120"/>
          </a:xfrm>
          <a:prstGeom prst="roundRect">
            <a:avLst>
              <a:gd name="adj" fmla="val 3000"/>
            </a:avLst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39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Calibri"/>
              </a:defRPr>
            </a:pPr>
            <a:r>
              <a:t>Windows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39" y="4389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39C12"/>
                </a:solidFill>
                <a:latin typeface="Calibri"/>
              </a:defRPr>
            </a:pPr>
            <a:r>
              <a:t>Problem: Emoji in CLI output crashed on Windows cp1252 console encoding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39" y="498348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Solution: Wrapped stdout with io.TextIOWrapper(encoding='utf-8', errors='replace'). Cross-platform compatible.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8EA3"/>
                </a:solidFill>
                <a:latin typeface="Calibri"/>
              </a:defRPr>
            </a:pPr>
            <a:r>
              <a:t>Production roadmap if this goes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E8EA3"/>
                </a:solidFill>
                <a:latin typeface="Calibri"/>
              </a:defRPr>
            </a:pPr>
            <a:r>
              <a:rPr dirty="0"/>
              <a:t>A</a:t>
            </a:r>
            <a:r>
              <a:rPr lang="en-US" dirty="0"/>
              <a:t>RWN </a:t>
            </a:r>
            <a:r>
              <a:rPr dirty="0"/>
              <a:t>|  CS Demand Forecasting &amp; Shift Scheduling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474720" cy="457200"/>
          </a:xfrm>
          <a:prstGeom prst="roundRect">
            <a:avLst>
              <a:gd name="adj" fmla="val 5000"/>
            </a:avLst>
          </a:prstGeom>
          <a:solidFill>
            <a:srgbClr val="00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Short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Add real agent preference survey integration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Auto-tune solver time based on solution gap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A/B test scheduling configs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Add shift swap request workflow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474720" cy="457200"/>
          </a:xfrm>
          <a:prstGeom prst="roundRect">
            <a:avLst>
              <a:gd name="adj" fmla="val 5000"/>
            </a:avLst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Medium 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Online learning: retrain models monthly on actual data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Multi-month scheduling (rollover constraints)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Agent skill-based routing (beyond Sr/Jr/Eng)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Real-time re-scheduling on sick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457200"/>
          </a:xfrm>
          <a:prstGeom prst="roundRect">
            <a:avLst>
              <a:gd name="adj" fmla="val 5000"/>
            </a:avLst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14813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Long Term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031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Reinforcement learning for adaptive scheduling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Integration with HR/payroll systems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Multi-site scheduling optimization</a:t>
            </a:r>
          </a:p>
          <a:p>
            <a:pPr>
              <a:spcAft>
                <a:spcPts val="65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Automated anomaly detection in CSAT trends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657600"/>
            <a:ext cx="210312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sz="1000" dirty="0"/>
              <a:t>github.com/</a:t>
            </a:r>
            <a:r>
              <a:rPr sz="1000" dirty="0" err="1"/>
              <a:t>ougrid</a:t>
            </a:r>
            <a:r>
              <a:rPr sz="1000" dirty="0"/>
              <a:t>/</a:t>
            </a:r>
            <a:r>
              <a:rPr sz="1000" dirty="0" err="1"/>
              <a:t>arwn-aifse</a:t>
            </a:r>
            <a:endParaRPr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rPr sz="1600"/>
              <a:t>Python 3.11  ·  scikit-learn  ·  OR-Tools  ·  Streamlit  ·  55+ Tests  ·  13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ARWN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1890</Words>
  <Application>Microsoft Office PowerPoint</Application>
  <PresentationFormat>Widescreen</PresentationFormat>
  <Paragraphs>270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Ougrid D.</cp:lastModifiedBy>
  <cp:revision>10</cp:revision>
  <dcterms:created xsi:type="dcterms:W3CDTF">2013-01-27T09:14:16Z</dcterms:created>
  <dcterms:modified xsi:type="dcterms:W3CDTF">2026-04-03T09:12:01Z</dcterms:modified>
  <cp:category/>
</cp:coreProperties>
</file>